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97280"/>
            <a:ext cx="6400800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QLoRA 기반
AI 면접관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5760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E0F2FE"/>
                </a:solidFill>
                <a:latin typeface="Malgun Gothic"/>
              </a:rPr>
              <a:t>지원자의 직무와 경험을 바탕으로
심층 기술면접 질문 한 개를 생성합니다.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35240" y="1417320"/>
            <a:ext cx="3474720" cy="2651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1874519"/>
            <a:ext cx="28346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8GB VRAM
Qwen3-1.7B
QLoRA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8076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E0F2FE"/>
                </a:solidFill>
                <a:latin typeface="Malgun Gothic"/>
              </a:rPr>
              <a:t>AI Interviewer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607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</a:rPr>
              <a:t>문제정의: 왜 AI 면접관인가?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51560" cy="54864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475569"/>
                </a:solidFill>
                <a:latin typeface="Malgun Gothic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3375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82296" cy="3246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29535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채용 환경의 변화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40280"/>
            <a:ext cx="2926080" cy="2514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AI 기반 역량검사와
AI 면접 활용이 확대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3375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645920"/>
            <a:ext cx="82296" cy="32461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828800"/>
            <a:ext cx="29535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취업준비생의 문제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240280"/>
            <a:ext cx="2926080" cy="2514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AI 영상면접과 직무 면접을
개인 경험에 맞춰 준비하기 어려움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645920"/>
            <a:ext cx="33375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645920"/>
            <a:ext cx="82296" cy="3246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7" y="1828800"/>
            <a:ext cx="29535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프로젝트 목표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7" y="2240280"/>
            <a:ext cx="2926080" cy="2514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직무·경험 입력 →
실제 역량을 검증하는 질문 1개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303520"/>
            <a:ext cx="10698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algun Gothic"/>
              </a:rPr>
              <a:t>고용노동부·한국고용정보원 2025년 기업 채용동향조사: AI 도구를 채용에 사용하는 기업 중 69.8%가 AI 기반 역량검사를 활용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Malgun Gothic"/>
              </a:rPr>
              <a:t>QLoRA 기반 AI 면접관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607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</a:rPr>
              <a:t>요구사항과 제약조건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51560" cy="54864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475569"/>
                </a:solidFill>
                <a:latin typeface="Malgun Gothic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12064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82296" cy="3520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91640"/>
            <a:ext cx="473659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요구사항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03120"/>
            <a:ext cx="4709160" cy="2788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• 직무 + 경험 입력
• 후보 질문 3개 중 Top-1 선택
• 최종 출력은 질문 한 개
• 원본 JSONL은 보존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508760"/>
            <a:ext cx="512064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508760"/>
            <a:ext cx="82296" cy="3520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691640"/>
            <a:ext cx="473659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제약조건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103120"/>
            <a:ext cx="4709160" cy="2788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• GPU VRAM 8GB
• 외부 API·수작업 라벨링 없음
• 서빙 시 추론은 한 번
• Full Fine-tuning 지양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48640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Malgun Gothic"/>
              </a:rPr>
              <a:t>해결 방향: 로컬 임베딩으로 자동 Top-1 선택 + 4-bit QLoRA SFT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Malgun Gothic"/>
              </a:rPr>
              <a:t>QLoRA 기반 AI 면접관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607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</a:rPr>
              <a:t>Top-1 우선순위 기준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51560" cy="54864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4241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Malgun Gothic"/>
              </a:rPr>
              <a:t>현재 기준은 ‘질문 품질’이 아니라 ‘지원자 경험과의 관련성’입니다.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475569"/>
                </a:solidFill>
                <a:latin typeface="Malgun Gothic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3840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가장 경험과 관련된 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0F172A"/>
                </a:solidFill>
                <a:latin typeface="Malgun Gothic"/>
              </a:defRPr>
            </a:pPr>
            <a:r>
              <a:t>이력에 실제로 적힌 기술과 연결</a:t>
            </a:r>
          </a:p>
          <a:p>
            <a:pPr>
              <a:spcAft>
                <a:spcPts val="1300"/>
              </a:spcAft>
              <a:defRPr sz="1900">
                <a:solidFill>
                  <a:srgbClr val="0F172A"/>
                </a:solidFill>
                <a:latin typeface="Malgun Gothic"/>
              </a:defRPr>
            </a:pPr>
            <a:r>
              <a:t>프로젝트의 선택·실험·문제 해결을 질문</a:t>
            </a:r>
          </a:p>
          <a:p>
            <a:pPr>
              <a:spcAft>
                <a:spcPts val="1300"/>
              </a:spcAft>
              <a:defRPr sz="1900">
                <a:solidFill>
                  <a:srgbClr val="0F172A"/>
                </a:solidFill>
                <a:latin typeface="Malgun Gothic"/>
              </a:defRPr>
            </a:pPr>
            <a:r>
              <a:t>이력에 없는 기술을 가정하지 않음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645920"/>
            <a:ext cx="53035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60" y="1645920"/>
            <a:ext cx="82296" cy="3246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828800"/>
            <a:ext cx="4919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예시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2240280"/>
            <a:ext cx="4892040" cy="2514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경험: Qdrant, BGE 임베딩, Top-k=5
후보: ‘Top-k=5를 어떤 평가 지표로 결정했나요?’
→ 경험의 실제 의사결정을 직접 묻는 후보를 우선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Malgun Gothic"/>
              </a:rPr>
              <a:t>QLoRA 기반 AI 면접관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607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</a:rPr>
              <a:t>Top-1 추출 방법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51560" cy="54864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4241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Malgun Gothic"/>
              </a:rPr>
              <a:t>로컬 BGE 임베딩 기반 자동 pseudo-labeling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475569"/>
                </a:solidFill>
                <a:latin typeface="Malgun Gothic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423160"/>
            <a:ext cx="1828800" cy="1005840"/>
          </a:xfrm>
          <a:prstGeom prst="roundRect">
            <a:avLst/>
          </a:prstGeom>
          <a:solidFill>
            <a:srgbClr val="E0F2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96312"/>
            <a:ext cx="164592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Malgun Gothic"/>
              </a:rPr>
              <a:t>직무 + 경험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2423160"/>
            <a:ext cx="1828800" cy="1005840"/>
          </a:xfrm>
          <a:prstGeom prst="roundRect">
            <a:avLst/>
          </a:prstGeom>
          <a:solidFill>
            <a:srgbClr val="E0F2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2496312"/>
            <a:ext cx="164592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Malgun Gothic"/>
              </a:rPr>
              <a:t>후보 질문 3개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9240" y="2423160"/>
            <a:ext cx="1828800" cy="1005840"/>
          </a:xfrm>
          <a:prstGeom prst="roundRect">
            <a:avLst/>
          </a:prstGeom>
          <a:solidFill>
            <a:srgbClr val="D1FAE5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2496312"/>
            <a:ext cx="164592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Malgun Gothic"/>
              </a:rPr>
              <a:t>BGE 임베딩
CPU 실행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423160"/>
            <a:ext cx="1828800" cy="1005840"/>
          </a:xfrm>
          <a:prstGeom prst="roundRect">
            <a:avLst/>
          </a:prstGeom>
          <a:solidFill>
            <a:srgbClr val="FEF2F2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19" y="2496312"/>
            <a:ext cx="164592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Malgun Gothic"/>
              </a:rPr>
              <a:t>최고 유사도
질문 1개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743200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2563EB"/>
                </a:solidFill>
                <a:latin typeface="Malgun Gothic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743200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2563EB"/>
                </a:solidFill>
                <a:latin typeface="Malgun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743200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2563EB"/>
                </a:solidFill>
                <a:latin typeface="Malgun Gothic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160520"/>
            <a:ext cx="6583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Malgun Gothic"/>
              </a:rPr>
              <a:t>정규화된 벡터의 내적 = cosine similarity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498348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475569"/>
                </a:solidFill>
                <a:latin typeface="Malgun Gothic"/>
              </a:rPr>
              <a:t>모델: BAAI/bge-m3  |  외부 API 없음  |  GPU VRAM 추가 사용 없음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Malgun Gothic"/>
              </a:rPr>
              <a:t>QLoRA 기반 AI 면접관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607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</a:rPr>
              <a:t>학습 데이터 흐름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51560" cy="54864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475569"/>
                </a:solidFill>
                <a:latin typeface="Malgun Gothic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23160"/>
            <a:ext cx="1691640" cy="1005840"/>
          </a:xfrm>
          <a:prstGeom prst="roundRect">
            <a:avLst/>
          </a:prstGeom>
          <a:solidFill>
            <a:srgbClr val="E0F2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496312"/>
            <a:ext cx="15087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Malgun Gothic"/>
              </a:rPr>
              <a:t>원본 JSONL
후보 3개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2423160"/>
            <a:ext cx="1691640" cy="1005840"/>
          </a:xfrm>
          <a:prstGeom prst="roundRect">
            <a:avLst/>
          </a:prstGeom>
          <a:solidFill>
            <a:srgbClr val="E0F2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2496312"/>
            <a:ext cx="15087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Malgun Gothic"/>
              </a:rPr>
              <a:t>후보 분리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2423160"/>
            <a:ext cx="1691640" cy="1005840"/>
          </a:xfrm>
          <a:prstGeom prst="roundRect">
            <a:avLst/>
          </a:prstGeom>
          <a:solidFill>
            <a:srgbClr val="E0F2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2496312"/>
            <a:ext cx="15087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Malgun Gothic"/>
              </a:rPr>
              <a:t>Top-1 선택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423160"/>
            <a:ext cx="1691640" cy="1005840"/>
          </a:xfrm>
          <a:prstGeom prst="roundRect">
            <a:avLst/>
          </a:prstGeom>
          <a:solidFill>
            <a:srgbClr val="D1FAE5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80" y="2496312"/>
            <a:ext cx="15087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Malgun Gothic"/>
              </a:rPr>
              <a:t>prompt /
completion 생성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12680" y="2423160"/>
            <a:ext cx="1691640" cy="1005840"/>
          </a:xfrm>
          <a:prstGeom prst="roundRect">
            <a:avLst/>
          </a:prstGeom>
          <a:solidFill>
            <a:srgbClr val="D1FAE5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04120" y="2496312"/>
            <a:ext cx="15087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Malgun Gothic"/>
              </a:rPr>
              <a:t>QLoRA
SFT 학습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743200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2563EB"/>
                </a:solidFill>
                <a:latin typeface="Malgun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743200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2563EB"/>
                </a:solidFill>
                <a:latin typeface="Malgun Gothic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743200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2563EB"/>
                </a:solidFill>
                <a:latin typeface="Malgun Gothic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2743200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2563EB"/>
                </a:solidFill>
                <a:latin typeface="Malgun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0240" y="4251960"/>
            <a:ext cx="8321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20240" y="4251960"/>
            <a:ext cx="82296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67128" y="4434840"/>
            <a:ext cx="793699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원본 파일 유지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67128" y="4846320"/>
            <a:ext cx="7909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datas/ai_interview_sft.jsonl을 수정하지 않고, 노트북 메모리에서만 Top-1 학습 데이터셋을 생성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Malgun Gothic"/>
              </a:rPr>
              <a:t>QLoRA 기반 AI 면접관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607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</a:rPr>
              <a:t>QLoRA 설계: 8GB 환경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51560" cy="54864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475569"/>
                </a:solidFill>
                <a:latin typeface="Malgun Gothic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3375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82296" cy="3520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91640"/>
            <a:ext cx="29535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기본 모델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03120"/>
            <a:ext cx="2926080" cy="2788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Qwen / Qwen3-1.7B
기본 모델 가중치는 고정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3375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508760"/>
            <a:ext cx="82296" cy="3520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691640"/>
            <a:ext cx="29535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양자화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103120"/>
            <a:ext cx="2926080" cy="2788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4-bit NF4
double quantization
메모리 사용량 감소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508760"/>
            <a:ext cx="33375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508760"/>
            <a:ext cx="82296" cy="3520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7" y="1691640"/>
            <a:ext cx="29535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학습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7" y="2103120"/>
            <a:ext cx="2926080" cy="2788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LoRA rank 16
batch size 1
gradient accumulation 8
max length 512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48640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563EB"/>
                </a:solidFill>
                <a:latin typeface="Malgun Gothic"/>
              </a:rPr>
              <a:t>gradient checkpointing + paged_adamw_8bit + completion_only_loss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Malgun Gothic"/>
              </a:rPr>
              <a:t>QLoRA 기반 AI 면접관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607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</a:rPr>
              <a:t>LoRA와 QLoRA 비교 계획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51560" cy="54864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475569"/>
                </a:solidFill>
                <a:latin typeface="Malgun Gothic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2468880" cy="502920"/>
          </a:xfrm>
          <a:prstGeom prst="rect">
            <a:avLst/>
          </a:prstGeom>
          <a:solidFill>
            <a:srgbClr val="0F172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구분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508760"/>
            <a:ext cx="3840480" cy="502920"/>
          </a:xfrm>
          <a:prstGeom prst="rect">
            <a:avLst/>
          </a:prstGeom>
          <a:solidFill>
            <a:srgbClr val="0F172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50876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LoRA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508760"/>
            <a:ext cx="3840480" cy="502920"/>
          </a:xfrm>
          <a:prstGeom prst="rect">
            <a:avLst/>
          </a:prstGeom>
          <a:solidFill>
            <a:srgbClr val="0F172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50876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QLoRA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011680"/>
            <a:ext cx="2468880" cy="50292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Malgun Gothic"/>
              </a:rPr>
              <a:t>기본 모델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011680"/>
            <a:ext cx="3840480" cy="50292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01168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F172A"/>
                </a:solidFill>
                <a:latin typeface="Malgun Gothic"/>
              </a:rPr>
              <a:t>bf16 / fp16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2011680"/>
            <a:ext cx="3840480" cy="50292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201168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F172A"/>
                </a:solidFill>
                <a:latin typeface="Malgun Gothic"/>
              </a:rPr>
              <a:t>4-bit NF4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514600"/>
            <a:ext cx="24688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51460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Malgun Gothic"/>
              </a:rPr>
              <a:t>학습 대상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2514600"/>
            <a:ext cx="38404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251460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F172A"/>
                </a:solidFill>
                <a:latin typeface="Malgun Gothic"/>
              </a:rPr>
              <a:t>LoRA adapter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2514600"/>
            <a:ext cx="38404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251460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F172A"/>
                </a:solidFill>
                <a:latin typeface="Malgun Gothic"/>
              </a:rPr>
              <a:t>LoRA adapter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017520"/>
            <a:ext cx="2468880" cy="50292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01752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Malgun Gothic"/>
              </a:rPr>
              <a:t>VRAM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3017520"/>
            <a:ext cx="3840480" cy="50292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301752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F172A"/>
                </a:solidFill>
                <a:latin typeface="Malgun Gothic"/>
              </a:rPr>
              <a:t>상대적으로 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3017520"/>
            <a:ext cx="3840480" cy="50292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301752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F172A"/>
                </a:solidFill>
                <a:latin typeface="Malgun Gothic"/>
              </a:rPr>
              <a:t>상대적으로 작음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3520440"/>
            <a:ext cx="24688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52044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Malgun Gothic"/>
              </a:rPr>
              <a:t>8GB 적합성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3520440"/>
            <a:ext cx="38404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0" y="352044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F172A"/>
                </a:solidFill>
                <a:latin typeface="Malgun Gothic"/>
              </a:rPr>
              <a:t>OOM 가능성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60" y="3520440"/>
            <a:ext cx="38404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0" y="352044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F172A"/>
                </a:solidFill>
                <a:latin typeface="Malgun Gothic"/>
              </a:rPr>
              <a:t>실제 학습 권장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4846320"/>
            <a:ext cx="9875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Malgun Gothic"/>
              </a:rPr>
              <a:t>공정 비교 조건: 동일 JSONL · 동일 Top-1 · 동일 모델 · 동일 rank · 동일 학습 step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73952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Malgun Gothic"/>
              </a:rPr>
              <a:t>QLoRA 기반 AI 면접관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607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</a:rPr>
              <a:t>테스트 및 검증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51560" cy="54864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475569"/>
                </a:solidFill>
                <a:latin typeface="Malgun Gothic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3375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82296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91640"/>
            <a:ext cx="29535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기능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03120"/>
            <a:ext cx="292608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• 후보 3개가 정상 분리되는가?
• completion이 질문 한 개인가?
• 번호·해설 없이 출력되는가?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3375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508760"/>
            <a:ext cx="82296" cy="3474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691640"/>
            <a:ext cx="29535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자원 비교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103120"/>
            <a:ext cx="292608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• 최대 VRAM
• 학습 시간
• OOM 발생 여부
• 최종 train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508760"/>
            <a:ext cx="33375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508760"/>
            <a:ext cx="82296" cy="3474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7" y="1691640"/>
            <a:ext cx="29535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algun Gothic"/>
              </a:rPr>
              <a:t>질문 품질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7" y="2103120"/>
            <a:ext cx="292608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• 경험 관련성
• 구체성
• 검증 가능성
• Before / After 비교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Malgun Gothic"/>
              </a:rPr>
              <a:t>QLoRA 기반 AI 면접관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607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</a:rPr>
              <a:t>개선 방향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51560" cy="54864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475569"/>
                </a:solidFill>
                <a:latin typeface="Malgun Gothic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9875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0F172A"/>
                </a:solidFill>
                <a:latin typeface="Malgun Gothic"/>
              </a:defRPr>
            </a:pPr>
            <a:r>
              <a:t>현재 31개 데이터를 수백 건 이상의 직무·경험 사례로 확장</a:t>
            </a:r>
          </a:p>
          <a:p>
            <a:pPr>
              <a:spcAft>
                <a:spcPts val="1300"/>
              </a:spcAft>
              <a:defRPr sz="2200">
                <a:solidFill>
                  <a:srgbClr val="0F172A"/>
                </a:solidFill>
                <a:latin typeface="Malgun Gothic"/>
              </a:defRPr>
            </a:pPr>
            <a:r>
              <a:t>경험 관련성 외에 질문의 구체성과 검증 가능성을 점수화</a:t>
            </a:r>
          </a:p>
          <a:p>
            <a:pPr>
              <a:spcAft>
                <a:spcPts val="1300"/>
              </a:spcAft>
              <a:defRPr sz="2200">
                <a:solidFill>
                  <a:srgbClr val="0F172A"/>
                </a:solidFill>
                <a:latin typeface="Malgun Gothic"/>
              </a:defRPr>
            </a:pPr>
            <a:r>
              <a:t>LoRA와 QLoRA를 동일 조건에서 학습하고 VRAM·시간·품질 비교</a:t>
            </a:r>
          </a:p>
          <a:p>
            <a:pPr>
              <a:spcAft>
                <a:spcPts val="1300"/>
              </a:spcAft>
              <a:defRPr sz="2200">
                <a:solidFill>
                  <a:srgbClr val="0F172A"/>
                </a:solidFill>
                <a:latin typeface="Malgun Gothic"/>
              </a:defRPr>
            </a:pPr>
            <a:r>
              <a:t>질문 한 문장만 출력하도록 후처리 검증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892040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Malgun Gothic"/>
              </a:rPr>
              <a:t>결론: 8GB 환경에서는 QLoRA가 실용적인 학습 기준선이며,
성능 향상의 핵심은 모델 확장보다 데이터 품질과 Top-1 기준 개선입니다.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Malgun Gothic"/>
              </a:rPr>
              <a:t>QLoRA 기반 AI 면접관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